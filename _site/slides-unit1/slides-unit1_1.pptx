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Probabilidad y Estadística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Definiciones. Manejo de datos y medidas estadísticas</a:t>
            </a:r>
          </a:p>
          <a:p>
            <a:pPr lvl="0" indent="0" marL="0">
              <a:buNone/>
            </a:pPr>
            <a:r>
              <a:rPr/>
              <a:t>2026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Unidades temáticas</a:t>
            </a:r>
          </a:p>
          <a:p>
            <a:pPr lvl="0"/>
            <a:r>
              <a:rPr b="1"/>
              <a:t>Unidad 1:</a:t>
            </a:r>
            <a:r>
              <a:rPr/>
              <a:t> Definiciones. Manejo de datos y medidas estadísticas</a:t>
            </a:r>
          </a:p>
          <a:p>
            <a:pPr lvl="0"/>
            <a:r>
              <a:rPr b="1"/>
              <a:t>Unidad 2:</a:t>
            </a:r>
            <a:r>
              <a:rPr/>
              <a:t> Probabilidad y muestreo</a:t>
            </a:r>
          </a:p>
          <a:p>
            <a:pPr lvl="0"/>
            <a:r>
              <a:rPr b="1"/>
              <a:t>Unidad 3:</a:t>
            </a:r>
            <a:r>
              <a:rPr/>
              <a:t> Variables aleatorias discretas y continuas y sus distribuciones</a:t>
            </a:r>
          </a:p>
          <a:p>
            <a:pPr lvl="0"/>
            <a:r>
              <a:rPr b="1"/>
              <a:t>Unidad 4:</a:t>
            </a:r>
            <a:r>
              <a:rPr/>
              <a:t> Distribuciones muestrales. Introducción a los intervalos de confianza</a:t>
            </a:r>
          </a:p>
          <a:p>
            <a:pPr lvl="0"/>
            <a:r>
              <a:rPr b="1"/>
              <a:t>Unidad 5:</a:t>
            </a:r>
            <a:r>
              <a:rPr/>
              <a:t> Análisis de regresión y correlación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Unidad 1</a:t>
            </a:r>
          </a:p>
          <a:p>
            <a:pPr lvl="0" indent="0" marL="0">
              <a:buNone/>
            </a:pPr>
            <a:r>
              <a:rPr/>
              <a:t>Definiciones. Manejo de datos y medidas estadísticas</a:t>
            </a:r>
          </a:p>
          <a:p>
            <a:pPr lvl="0" indent="0" marL="0">
              <a:buNone/>
            </a:pPr>
            <a:r>
              <a:rPr b="1"/>
              <a:t>1.</a:t>
            </a:r>
            <a:r>
              <a:rPr/>
              <a:t> Introducción y conceptos fundamentales</a:t>
            </a:r>
          </a:p>
          <a:p>
            <a:pPr lvl="0" indent="0" marL="0">
              <a:buNone/>
            </a:pPr>
            <a:r>
              <a:rPr b="1"/>
              <a:t>2.</a:t>
            </a:r>
            <a:r>
              <a:rPr/>
              <a:t> Recolección, organización y representación gráfica de datos</a:t>
            </a:r>
          </a:p>
          <a:p>
            <a:pPr lvl="0" indent="0" marL="0">
              <a:buNone/>
            </a:pPr>
            <a:r>
              <a:rPr b="1"/>
              <a:t>3.</a:t>
            </a:r>
            <a:r>
              <a:rPr/>
              <a:t> Medidas de tendencia central y posición</a:t>
            </a:r>
          </a:p>
          <a:p>
            <a:pPr lvl="0" indent="0" marL="0">
              <a:buNone/>
            </a:pPr>
            <a:r>
              <a:rPr b="1"/>
              <a:t>4.</a:t>
            </a:r>
            <a:r>
              <a:rPr/>
              <a:t> Medidas de dispersión y de forma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Unidad 1</a:t>
            </a:r>
          </a:p>
          <a:p>
            <a:pPr lvl="0" indent="0" marL="0">
              <a:buNone/>
            </a:pPr>
            <a:r>
              <a:rPr/>
              <a:t>Introducción y conceptos fundamentales</a:t>
            </a:r>
          </a:p>
          <a:p>
            <a:pPr lvl="0" indent="-342900" marL="342900">
              <a:buAutoNum type="arabicPeriod"/>
            </a:pPr>
            <a:r>
              <a:rPr b="1"/>
              <a:t>Estadística</a:t>
            </a:r>
          </a:p>
          <a:p>
            <a:pPr lvl="1"/>
            <a:r>
              <a:rPr/>
              <a:t>Estadística descriptiva vs. inferencial</a:t>
            </a:r>
          </a:p>
          <a:p>
            <a:pPr lvl="0" indent="-342900" marL="342900">
              <a:buAutoNum type="arabicPeriod"/>
            </a:pPr>
            <a:r>
              <a:rPr b="1"/>
              <a:t>Población, muestra e individuo</a:t>
            </a:r>
          </a:p>
          <a:p>
            <a:pPr lvl="1"/>
            <a:r>
              <a:rPr/>
              <a:t>Unidades de análisis y condiciones de definición</a:t>
            </a:r>
          </a:p>
          <a:p>
            <a:pPr lvl="1"/>
            <a:r>
              <a:rPr/>
              <a:t>Descriptores numéricos: Parámetro vs. Estadístico</a:t>
            </a:r>
          </a:p>
          <a:p>
            <a:pPr lvl="0" indent="-342900" marL="342900">
              <a:buAutoNum type="arabicPeriod"/>
            </a:pPr>
            <a:r>
              <a:rPr b="1"/>
              <a:t>Variables estadísticas y datos</a:t>
            </a:r>
          </a:p>
          <a:p>
            <a:pPr lvl="1"/>
            <a:r>
              <a:rPr/>
              <a:t>Definición de variable y concepto de dato</a:t>
            </a:r>
          </a:p>
          <a:p>
            <a:pPr lvl="1"/>
            <a:r>
              <a:rPr/>
              <a:t>Clasificación: Cualitativas, cuantitativas y datos binarios</a:t>
            </a:r>
          </a:p>
          <a:p>
            <a:pPr lvl="1"/>
            <a:r>
              <a:rPr/>
              <a:t>Variables binarias. Codificación numérica</a:t>
            </a:r>
          </a:p>
          <a:p>
            <a:pPr lvl="0" indent="-342900" marL="342900">
              <a:buAutoNum type="arabicPeriod"/>
            </a:pPr>
            <a:r>
              <a:rPr b="1"/>
              <a:t>Escalas de medición</a:t>
            </a:r>
          </a:p>
          <a:p>
            <a:pPr lvl="1"/>
            <a:r>
              <a:rPr/>
              <a:t>Escalas nominal, ordinal, intervalo y razón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Estadística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 la ciencia que se encarga de recolectar, organizar, analizar e interpretar datos para transformar la información en conclusiones útiles y ayudar a tomar decisiones acertadas frente a la incertidumbre.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Claves de la Estadística</a:t>
            </a:r>
          </a:p>
          <a:p>
            <a:pPr lvl="0"/>
            <a:r>
              <a:rPr b="1"/>
              <a:t>Muestra vs. Población</a:t>
            </a:r>
            <a:r>
              <a:rPr/>
              <a:t> | De lo que ves a lo que realmente existe</a:t>
            </a:r>
          </a:p>
          <a:p>
            <a:pPr lvl="0"/>
            <a:r>
              <a:rPr b="1"/>
              <a:t>Variabilidad vs. Error</a:t>
            </a:r>
            <a:r>
              <a:rPr/>
              <a:t> | Lo que es naturaleza pura vs. lo que mediste mal</a:t>
            </a:r>
          </a:p>
          <a:p>
            <a:pPr lvl="0"/>
            <a:r>
              <a:rPr b="1"/>
              <a:t>Descripción vs. Modelo</a:t>
            </a:r>
            <a:r>
              <a:rPr/>
              <a:t> | Resumir el pasado vs. predecir el futuro</a:t>
            </a:r>
          </a:p>
          <a:p>
            <a:pPr lvl="0"/>
            <a:r>
              <a:rPr b="1"/>
              <a:t>Probabilidad</a:t>
            </a:r>
            <a:r>
              <a:rPr/>
              <a:t> | El lenguaje para hablarle a la incertidumbre</a:t>
            </a:r>
          </a:p>
          <a:p>
            <a:pPr lvl="0"/>
            <a:r>
              <a:rPr b="1"/>
              <a:t>Supuestos vs. Realidad</a:t>
            </a:r>
            <a:r>
              <a:rPr/>
              <a:t> | El modelo perfecto en el papel vs. la suciedad de los datos</a:t>
            </a:r>
          </a:p>
          <a:p>
            <a:pPr lvl="0"/>
            <a:r>
              <a:rPr b="1"/>
              <a:t>Diseño vs. Análisis</a:t>
            </a:r>
            <a:r>
              <a:rPr/>
              <a:t> | Si diseñaste mal, ningún modelo salva la torta</a:t>
            </a:r>
          </a:p>
          <a:p>
            <a:pPr lvl="0"/>
            <a:r>
              <a:rPr b="1"/>
              <a:t>Correlación vs. Causalidad</a:t>
            </a:r>
            <a:r>
              <a:rPr/>
              <a:t> | Moverse juntos no es ser causa y efecto</a:t>
            </a:r>
          </a:p>
          <a:p>
            <a:pPr lvl="0"/>
            <a:r>
              <a:rPr b="1"/>
              <a:t>Significancia vs. Relevancia</a:t>
            </a:r>
            <a:r>
              <a:rPr/>
              <a:t> | Lo que da un </a:t>
            </a:r>
            <a:r>
              <a:rPr i="1"/>
              <a:t>p</a:t>
            </a:r>
            <a:r>
              <a:rPr/>
              <a:t>-valor &lt; 0.05 vs. lo que importa en la vida real</a:t>
            </a:r>
          </a:p>
          <a:p>
            <a:pPr lvl="0"/>
            <a:r>
              <a:rPr b="1"/>
              <a:t>Certeza vs. Incertidumbre</a:t>
            </a:r>
            <a:r>
              <a:rPr/>
              <a:t> | Del confort del determinismo a la honestidad del riesgo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Tipos de Estadística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Estadística descriptiva</a:t>
            </a:r>
          </a:p>
          <a:p>
            <a:pPr lvl="0" indent="0" marL="0">
              <a:buNone/>
            </a:pPr>
            <a:r>
              <a:rPr/>
              <a:t>Resume, organiza y presenta datos recolectados.</a:t>
            </a:r>
          </a:p>
          <a:p>
            <a:pPr lvl="0"/>
            <a:r>
              <a:rPr b="1"/>
              <a:t>Objetivo:</a:t>
            </a:r>
            <a:r>
              <a:rPr/>
              <a:t> Describir una muestra o población.</a:t>
            </a:r>
          </a:p>
          <a:p>
            <a:pPr lvl="0"/>
            <a:r>
              <a:rPr b="1"/>
              <a:t>Herramientas:</a:t>
            </a:r>
          </a:p>
          <a:p>
            <a:pPr lvl="1"/>
            <a:r>
              <a:rPr/>
              <a:t>Tablas de frecuencia</a:t>
            </a:r>
          </a:p>
          <a:p>
            <a:pPr lvl="1"/>
            <a:r>
              <a:rPr/>
              <a:t>Gráficos</a:t>
            </a:r>
          </a:p>
          <a:p>
            <a:pPr lvl="1"/>
            <a:r>
              <a:rPr/>
              <a:t>Medidas de tendencia central, de dispersión y de forma</a:t>
            </a:r>
          </a:p>
          <a:p>
            <a:pPr lvl="0"/>
            <a:r>
              <a:rPr b="1"/>
              <a:t>Resultado:</a:t>
            </a:r>
            <a:r>
              <a:rPr/>
              <a:t> Cuadros resumen y gráficos explicativos.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Estadística inferencial</a:t>
            </a:r>
          </a:p>
          <a:p>
            <a:pPr lvl="0" indent="0" marL="0">
              <a:buNone/>
            </a:pPr>
            <a:r>
              <a:rPr/>
              <a:t>Hace predicciones y saca conclusiones sobre una población a partir de una muestra.</a:t>
            </a:r>
          </a:p>
          <a:p>
            <a:pPr lvl="0"/>
            <a:r>
              <a:rPr b="1"/>
              <a:t>Objetivo:</a:t>
            </a:r>
            <a:r>
              <a:rPr/>
              <a:t> Generalizar y tomar decisiones bajo incertidumbre.</a:t>
            </a:r>
          </a:p>
          <a:p>
            <a:pPr lvl="0"/>
            <a:r>
              <a:rPr b="1"/>
              <a:t>Herramientas:</a:t>
            </a:r>
          </a:p>
          <a:p>
            <a:pPr lvl="1"/>
            <a:r>
              <a:rPr/>
              <a:t>Probabilidad</a:t>
            </a:r>
          </a:p>
          <a:p>
            <a:pPr lvl="1"/>
            <a:r>
              <a:rPr/>
              <a:t>Intervalos de confianza</a:t>
            </a:r>
          </a:p>
          <a:p>
            <a:pPr lvl="1"/>
            <a:r>
              <a:rPr/>
              <a:t>Pruebas de hipótesis</a:t>
            </a:r>
          </a:p>
          <a:p>
            <a:pPr lvl="0"/>
            <a:r>
              <a:rPr b="1"/>
              <a:t>Resultado:</a:t>
            </a:r>
            <a:r>
              <a:rPr/>
              <a:t> Conclusiones con un nivel de certeza o margen de error.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Población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Conjunto completo de todos los individuos, objetos o medidas que comparten una característica común y que son el foco de un estudio estadístico.</a:t>
            </a:r>
          </a:p>
          <a:p>
            <a:pPr lvl="0" indent="0" marL="0">
              <a:buNone/>
            </a:pPr>
            <a:r>
              <a:rPr/>
              <a:t>Simplemente un grupo completo de cosas o personas de las que queremos aprender algo.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Características de una población</a:t>
            </a:r>
          </a:p>
          <a:p>
            <a:pPr lvl="0" indent="0" marL="0">
              <a:buNone/>
            </a:pPr>
            <a:r>
              <a:rPr/>
              <a:t>Una población está estadísticamente definida si cumple con:</a:t>
            </a:r>
          </a:p>
          <a:p>
            <a:pPr lvl="0" indent="-342900" marL="342900">
              <a:buAutoNum type="arabicPeriod"/>
            </a:pPr>
            <a:r>
              <a:rPr b="1"/>
              <a:t>Delimitación espacio-temporal</a:t>
            </a:r>
            <a:r>
              <a:rPr/>
              <a:t> | Límites precisos sobre el lugar y el período en el que existen sus elementos.</a:t>
            </a:r>
          </a:p>
          <a:p>
            <a:pPr lvl="0" indent="-342900" marL="342900">
              <a:buAutoNum type="arabicPeriod"/>
            </a:pPr>
            <a:r>
              <a:rPr b="1"/>
              <a:t>Criterio de inclusión</a:t>
            </a:r>
            <a:r>
              <a:rPr/>
              <a:t> | Condición compartida que determina de forma inequívoca qué elementos pertenecen al conjunto y cuáles no.</a:t>
            </a:r>
          </a:p>
          <a:p>
            <a:pPr lvl="0" indent="-342900" marL="342900">
              <a:buAutoNum type="arabicPeriod"/>
            </a:pPr>
            <a:r>
              <a:rPr b="1"/>
              <a:t>Variabilidad interna</a:t>
            </a:r>
            <a:r>
              <a:rPr/>
              <a:t> | Presencia de diferencias entre sus miembros respecto a las variables bajo estudio.</a:t>
            </a:r>
          </a:p>
          <a:p>
            <a:pPr lvl="0" indent="-342900" marL="342900">
              <a:buAutoNum type="arabicPeriod"/>
            </a:pPr>
            <a:r>
              <a:rPr b="1"/>
              <a:t>Definición de escala</a:t>
            </a:r>
            <a:r>
              <a:rPr/>
              <a:t> | Dimensión total del conjunto, clasificada como finita o potencialmente infinita.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Muestra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Subconjunto </a:t>
            </a:r>
            <a:r>
              <a:rPr i="1"/>
              <a:t>representativo</a:t>
            </a:r>
            <a:r>
              <a:rPr/>
              <a:t> de la población que se selecciona para ser estudiado y analizado directamente.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Características de una muestra</a:t>
            </a:r>
          </a:p>
          <a:p>
            <a:pPr lvl="0" indent="-342900" marL="342900">
              <a:buAutoNum type="arabicPeriod"/>
            </a:pPr>
            <a:r>
              <a:rPr b="1"/>
              <a:t>Representatividad</a:t>
            </a:r>
            <a:r>
              <a:rPr/>
              <a:t> | Debe reflejar proporcionalmente la diversidad y características de la población original.</a:t>
            </a:r>
          </a:p>
          <a:p>
            <a:pPr lvl="0" indent="-342900" marL="342900">
              <a:buAutoNum type="arabicPeriod"/>
            </a:pPr>
            <a:r>
              <a:rPr b="1"/>
              <a:t>Tamaño adecuado</a:t>
            </a:r>
            <a:r>
              <a:rPr/>
              <a:t> | Suficientemente grande para reducir el margen de error, pero manejable y viable.</a:t>
            </a:r>
          </a:p>
          <a:p>
            <a:pPr lvl="0" indent="-342900" marL="342900">
              <a:buAutoNum type="arabicPeriod"/>
            </a:pPr>
            <a:r>
              <a:rPr b="1"/>
              <a:t>Aleatoriedad</a:t>
            </a:r>
            <a:r>
              <a:rPr/>
              <a:t> | Selección libre de sesgos individuales, donde todos tengan probabilidad de ser elegidos.</a:t>
            </a:r>
          </a:p>
          <a:p>
            <a:pPr lvl="0" indent="-342900" marL="342900">
              <a:buAutoNum type="arabicPeriod"/>
            </a:pPr>
            <a:r>
              <a:rPr b="1"/>
              <a:t>Homogeneidad</a:t>
            </a:r>
            <a:r>
              <a:rPr/>
              <a:t> | Aplicación uniforme de los mismos criterios de inclusión y exclusión para cada elemento.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Individuo (Unidad estadística/de observación)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 cada una de las entidades, elementos, objetos o eventos concretos que integran una población o muestra, sobre los cuales se observan, miden o registran las variables de interés en un estudio.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Características de un individuo</a:t>
            </a:r>
          </a:p>
          <a:p>
            <a:pPr lvl="0" indent="-342900" marL="342900">
              <a:buAutoNum type="arabicPeriod"/>
            </a:pPr>
            <a:r>
              <a:rPr b="1"/>
              <a:t>Indivisibilidad</a:t>
            </a:r>
            <a:r>
              <a:rPr/>
              <a:t> | Entidad más pequeña y completa sobre la cual se toma cada medición o registro.</a:t>
            </a:r>
          </a:p>
          <a:p>
            <a:pPr lvl="0" indent="-342900" marL="342900">
              <a:buAutoNum type="arabicPeriod"/>
            </a:pPr>
            <a:r>
              <a:rPr b="1"/>
              <a:t>Pertenencia explícita</a:t>
            </a:r>
            <a:r>
              <a:rPr/>
              <a:t> | Satisface estrictamente los criterios de inclusión de la población bajo estudio.</a:t>
            </a:r>
          </a:p>
          <a:p>
            <a:pPr lvl="0" indent="-342900" marL="342900">
              <a:buAutoNum type="arabicPeriod"/>
            </a:pPr>
            <a:r>
              <a:rPr b="1"/>
              <a:t>Capacidad de medición</a:t>
            </a:r>
            <a:r>
              <a:rPr/>
              <a:t> | Posee o genera las variables y características de interés para el análisis.</a:t>
            </a:r>
          </a:p>
          <a:p>
            <a:pPr lvl="0" indent="-342900" marL="342900">
              <a:buAutoNum type="arabicPeriod"/>
            </a:pPr>
            <a:r>
              <a:rPr b="1"/>
              <a:t>Identificabilidad</a:t>
            </a:r>
            <a:r>
              <a:rPr/>
              <a:t> | Puede diferenciarse de manera única e inequívoca de cualquier otro elemento del conjunto.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Tipología de un individuo (Más allá de la persona)</a:t>
            </a:r>
          </a:p>
          <a:p>
            <a:pPr lvl="0"/>
            <a:r>
              <a:rPr b="1"/>
              <a:t>Especímenes y componentes físicos</a:t>
            </a:r>
            <a:r>
              <a:rPr/>
              <a:t> | Probeta de concreto, perfil estructural, junta soldada, rodamiento o álabe de turbina.</a:t>
            </a:r>
          </a:p>
          <a:p>
            <a:pPr lvl="0"/>
            <a:r>
              <a:rPr b="1"/>
              <a:t>Sistemas y ensayos estructurales</a:t>
            </a:r>
            <a:r>
              <a:rPr/>
              <a:t> | Tramo de tubería, un puente, un ensayo de fatiga o un prototipo de chasis.</a:t>
            </a:r>
          </a:p>
          <a:p>
            <a:pPr lvl="0"/>
            <a:r>
              <a:rPr b="1"/>
              <a:t>Entidades computacionales y flujos de datos</a:t>
            </a:r>
            <a:r>
              <a:rPr/>
              <a:t> | Petición HTTP a un servidor, registro de ejecución, transacción de base de datos o paquete de datos en red.</a:t>
            </a:r>
          </a:p>
          <a:p>
            <a:pPr lvl="0"/>
            <a:r>
              <a:rPr b="1"/>
              <a:t>Procesos, eventos y tiempos de operación</a:t>
            </a:r>
            <a:r>
              <a:rPr/>
              <a:t> | Ciclo de mecanizado, tiempo de parada por falla o falla por desgaste.</a:t>
            </a:r>
          </a:p>
          <a:p>
            <a:pPr lvl="0"/>
            <a:r>
              <a:rPr b="1"/>
              <a:t>Unidades agregadas y redes</a:t>
            </a:r>
            <a:r>
              <a:rPr/>
              <a:t> | Celda de manufactura, red de distribución de agua, servidor en clúster o turno de producción de 8h.</a:t>
            </a:r>
          </a:p>
          <a:p>
            <a:pPr lvl="0" indent="0" marL="0">
              <a:spcBef>
                <a:spcPts val="3000"/>
              </a:spcBef>
              <a:buNone/>
            </a:pPr>
          </a:p>
          <a:p>
            <a:pPr lvl="0" indent="0" marL="0">
              <a:buNone/>
            </a:pPr>
            <a:r>
              <a:rPr/>
              <a:t>Foto por Toni Pomar en Unsplash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Parámetro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Valor numérico que describe una característica específica de una población completa.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Estadístico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Valor numérico que describe una característica de una muestra y sirve para estimar el parámetro poblacional.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Estadístico vs Parámetro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El </a:t>
                </a:r>
                <a:r>
                  <a:rPr b="1"/>
                  <a:t>estadístico</a:t>
                </a:r>
                <a:r>
                  <a:rPr/>
                  <a:t> es un valor calculado a partir de una muestra, por lo que varía según la muestra seleccionada (es una variable aleatoria), a diferencia del </a:t>
                </a:r>
                <a:r>
                  <a:rPr b="1"/>
                  <a:t>parámetro</a:t>
                </a:r>
                <a:r>
                  <a:rPr/>
                  <a:t>, que es una constante fija y generalmente desconocida de toda la población.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Estadístico vs Parámetro</a:t>
                </a:r>
              </a:p>
              <a:p>
                <a:pPr lvl="0" indent="0" marL="0">
                  <a:buNone/>
                </a:pPr>
                <a:r>
                  <a:rPr/>
                  <a:t>100 probetas cilíndricas de concreto a los 28 días (</a:t>
                </a:r>
                <a14:m>
                  <m:oMath xmlns:m="http://schemas.openxmlformats.org/officeDocument/2006/math">
                    <m:sSubSup>
                      <m:e>
                        <m:r>
                          <m:t>f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bSup>
                  </m:oMath>
                </a14:m>
                <a:r>
                  <a:rPr/>
                  <a:t> en MPa):</a:t>
                </a:r>
              </a:p>
              <a:p>
                <a:pPr lvl="0" indent="0" marL="0">
                  <a:buNone/>
                </a:pPr>
                <a:r>
                  <a:rPr/>
                  <a:t>28.4</a:t>
                </a:r>
              </a:p>
              <a:p>
                <a:pPr lvl="0" indent="0" marL="0">
                  <a:buNone/>
                </a:pPr>
                <a:r>
                  <a:rPr/>
                  <a:t>31.2</a:t>
                </a:r>
              </a:p>
              <a:p>
                <a:pPr lvl="0" indent="0" marL="0">
                  <a:buNone/>
                </a:pPr>
                <a:r>
                  <a:rPr/>
                  <a:t>25.9</a:t>
                </a:r>
              </a:p>
              <a:p>
                <a:pPr lvl="0" indent="0" marL="0">
                  <a:buNone/>
                </a:pPr>
                <a:r>
                  <a:rPr/>
                  <a:t>29.1</a:t>
                </a:r>
              </a:p>
              <a:p>
                <a:pPr lvl="0" indent="0" marL="0">
                  <a:buNone/>
                </a:pPr>
                <a:r>
                  <a:rPr/>
                  <a:t>33.0</a:t>
                </a:r>
              </a:p>
              <a:p>
                <a:pPr lvl="0" indent="0" marL="0">
                  <a:buNone/>
                </a:pPr>
                <a:r>
                  <a:rPr/>
                  <a:t>27.8</a:t>
                </a:r>
              </a:p>
              <a:p>
                <a:pPr lvl="0" indent="0" marL="0">
                  <a:buNone/>
                </a:pPr>
                <a:r>
                  <a:rPr/>
                  <a:t>30.6</a:t>
                </a:r>
              </a:p>
              <a:p>
                <a:pPr lvl="0" indent="0" marL="0">
                  <a:buNone/>
                </a:pPr>
                <a:r>
                  <a:rPr/>
                  <a:t>28.3</a:t>
                </a:r>
              </a:p>
              <a:p>
                <a:pPr lvl="0" indent="0" marL="0">
                  <a:buNone/>
                </a:pPr>
                <a:r>
                  <a:rPr/>
                  <a:t>24.9</a:t>
                </a:r>
              </a:p>
              <a:p>
                <a:pPr lvl="0" indent="0" marL="0">
                  <a:buNone/>
                </a:pPr>
                <a:r>
                  <a:rPr/>
                  <a:t>32.4</a:t>
                </a:r>
              </a:p>
              <a:p>
                <a:pPr lvl="0" indent="0" marL="0">
                  <a:buNone/>
                </a:pPr>
                <a:r>
                  <a:rPr/>
                  <a:t>29.5</a:t>
                </a:r>
              </a:p>
              <a:p>
                <a:pPr lvl="0" indent="0" marL="0">
                  <a:buNone/>
                </a:pPr>
                <a:r>
                  <a:rPr/>
                  <a:t>26.8</a:t>
                </a:r>
              </a:p>
              <a:p>
                <a:pPr lvl="0" indent="0" marL="0">
                  <a:buNone/>
                </a:pPr>
                <a:r>
                  <a:rPr/>
                  <a:t>31.7</a:t>
                </a:r>
              </a:p>
              <a:p>
                <a:pPr lvl="0" indent="0" marL="0">
                  <a:buNone/>
                </a:pPr>
                <a:r>
                  <a:rPr/>
                  <a:t>28.1</a:t>
                </a:r>
              </a:p>
              <a:p>
                <a:pPr lvl="0" indent="0" marL="0">
                  <a:buNone/>
                </a:pPr>
                <a:r>
                  <a:rPr/>
                  <a:t>30.2</a:t>
                </a:r>
              </a:p>
              <a:p>
                <a:pPr lvl="0" indent="0" marL="0">
                  <a:buNone/>
                </a:pPr>
                <a:r>
                  <a:rPr/>
                  <a:t>27.3</a:t>
                </a:r>
              </a:p>
              <a:p>
                <a:pPr lvl="0" indent="0" marL="0">
                  <a:buNone/>
                </a:pPr>
                <a:r>
                  <a:rPr/>
                  <a:t>29.8</a:t>
                </a:r>
              </a:p>
              <a:p>
                <a:pPr lvl="0" indent="0" marL="0">
                  <a:buNone/>
                </a:pPr>
                <a:r>
                  <a:rPr/>
                  <a:t>31.0</a:t>
                </a:r>
              </a:p>
              <a:p>
                <a:pPr lvl="0" indent="0" marL="0">
                  <a:buNone/>
                </a:pPr>
                <a:r>
                  <a:rPr/>
                  <a:t>34.1</a:t>
                </a:r>
              </a:p>
              <a:p>
                <a:pPr lvl="0" indent="0" marL="0">
                  <a:buNone/>
                </a:pPr>
                <a:r>
                  <a:rPr/>
                  <a:t>28.7</a:t>
                </a:r>
              </a:p>
              <a:p>
                <a:pPr lvl="0" indent="0" marL="0">
                  <a:buNone/>
                </a:pPr>
                <a:r>
                  <a:rPr/>
                  <a:t>31.5</a:t>
                </a:r>
              </a:p>
              <a:p>
                <a:pPr lvl="0" indent="0" marL="0">
                  <a:buNone/>
                </a:pPr>
                <a:r>
                  <a:rPr/>
                  <a:t>29.3</a:t>
                </a:r>
              </a:p>
              <a:p>
                <a:pPr lvl="0" indent="0" marL="0">
                  <a:buNone/>
                </a:pPr>
                <a:r>
                  <a:rPr/>
                  <a:t>26.2</a:t>
                </a:r>
              </a:p>
              <a:p>
                <a:pPr lvl="0" indent="0" marL="0">
                  <a:buNone/>
                </a:pPr>
                <a:r>
                  <a:rPr/>
                  <a:t>30.9</a:t>
                </a:r>
              </a:p>
              <a:p>
                <a:pPr lvl="0" indent="0" marL="0">
                  <a:buNone/>
                </a:pPr>
                <a:r>
                  <a:rPr/>
                  <a:t>27.6</a:t>
                </a:r>
              </a:p>
              <a:p>
                <a:pPr lvl="0" indent="0" marL="0">
                  <a:buNone/>
                </a:pPr>
                <a:r>
                  <a:rPr/>
                  <a:t>32.8</a:t>
                </a:r>
              </a:p>
              <a:p>
                <a:pPr lvl="0" indent="0" marL="0">
                  <a:buNone/>
                </a:pPr>
                <a:r>
                  <a:rPr/>
                  <a:t>28.9</a:t>
                </a:r>
              </a:p>
              <a:p>
                <a:pPr lvl="0" indent="0" marL="0">
                  <a:buNone/>
                </a:pPr>
                <a:r>
                  <a:rPr/>
                  <a:t>29.0</a:t>
                </a:r>
              </a:p>
              <a:p>
                <a:pPr lvl="0" indent="0" marL="0">
                  <a:buNone/>
                </a:pPr>
                <a:r>
                  <a:rPr/>
                  <a:t>32.1</a:t>
                </a:r>
              </a:p>
              <a:p>
                <a:pPr lvl="0" indent="0" marL="0">
                  <a:buNone/>
                </a:pPr>
                <a:r>
                  <a:rPr/>
                  <a:t>25.4</a:t>
                </a:r>
              </a:p>
              <a:p>
                <a:pPr lvl="0" indent="0" marL="0">
                  <a:buNone/>
                </a:pPr>
                <a:r>
                  <a:rPr/>
                  <a:t>30.4</a:t>
                </a:r>
              </a:p>
              <a:p>
                <a:pPr lvl="0" indent="0" marL="0">
                  <a:buNone/>
                </a:pPr>
                <a:r>
                  <a:rPr/>
                  <a:t>27.1</a:t>
                </a:r>
              </a:p>
              <a:p>
                <a:pPr lvl="0" indent="0" marL="0">
                  <a:buNone/>
                </a:pPr>
                <a:r>
                  <a:rPr/>
                  <a:t>35.2</a:t>
                </a:r>
              </a:p>
              <a:p>
                <a:pPr lvl="0" indent="0" marL="0">
                  <a:buNone/>
                </a:pPr>
                <a:r>
                  <a:rPr/>
                  <a:t>28.6</a:t>
                </a:r>
              </a:p>
              <a:p>
                <a:pPr lvl="0" indent="0" marL="0">
                  <a:buNone/>
                </a:pPr>
                <a:r>
                  <a:rPr/>
                  <a:t>31.3</a:t>
                </a:r>
              </a:p>
              <a:p>
                <a:pPr lvl="0" indent="0" marL="0">
                  <a:buNone/>
                </a:pPr>
                <a:r>
                  <a:rPr/>
                  <a:t>24.7</a:t>
                </a:r>
              </a:p>
              <a:p>
                <a:pPr lvl="0" indent="0" marL="0">
                  <a:buNone/>
                </a:pPr>
                <a:r>
                  <a:rPr/>
                  <a:t>29.7</a:t>
                </a:r>
              </a:p>
              <a:p>
                <a:pPr lvl="0" indent="0" marL="0">
                  <a:buNone/>
                </a:pPr>
                <a:r>
                  <a:rPr/>
                  <a:t>32.5</a:t>
                </a:r>
              </a:p>
              <a:p>
                <a:pPr lvl="0" indent="0" marL="0">
                  <a:buNone/>
                </a:pPr>
                <a:r>
                  <a:rPr/>
                  <a:t>27.9</a:t>
                </a:r>
              </a:p>
              <a:p>
                <a:pPr lvl="0" indent="0" marL="0">
                  <a:buNone/>
                </a:pPr>
                <a:r>
                  <a:rPr/>
                  <a:t>31.1</a:t>
                </a:r>
              </a:p>
              <a:p>
                <a:pPr lvl="0" indent="0" marL="0">
                  <a:buNone/>
                </a:pPr>
                <a:r>
                  <a:rPr/>
                  <a:t>28.5</a:t>
                </a:r>
              </a:p>
              <a:p>
                <a:pPr lvl="0" indent="0" marL="0">
                  <a:buNone/>
                </a:pPr>
                <a:r>
                  <a:rPr/>
                  <a:t>30.1</a:t>
                </a:r>
              </a:p>
              <a:p>
                <a:pPr lvl="0" indent="0" marL="0">
                  <a:buNone/>
                </a:pPr>
                <a:r>
                  <a:rPr/>
                  <a:t>26.6</a:t>
                </a:r>
              </a:p>
              <a:p>
                <a:pPr lvl="0" indent="0" marL="0">
                  <a:buNone/>
                </a:pPr>
                <a:r>
                  <a:rPr/>
                  <a:t>33.9</a:t>
                </a:r>
              </a:p>
              <a:p>
                <a:pPr lvl="0" indent="0" marL="0">
                  <a:buNone/>
                </a:pPr>
                <a:r>
                  <a:rPr/>
                  <a:t>29.2</a:t>
                </a:r>
              </a:p>
              <a:p>
                <a:pPr lvl="0" indent="0" marL="0">
                  <a:buNone/>
                </a:pPr>
                <a:r>
                  <a:rPr/>
                  <a:t>31.8</a:t>
                </a:r>
              </a:p>
              <a:p>
                <a:pPr lvl="0" indent="0" marL="0">
                  <a:buNone/>
                </a:pPr>
                <a:r>
                  <a:rPr/>
                  <a:t>32.2</a:t>
                </a:r>
              </a:p>
              <a:p>
                <a:pPr lvl="0" indent="0" marL="0">
                  <a:buNone/>
                </a:pPr>
                <a:r>
                  <a:rPr/>
                  <a:t>29.6</a:t>
                </a:r>
              </a:p>
              <a:p>
                <a:pPr lvl="0" indent="0" marL="0">
                  <a:buNone/>
                </a:pPr>
                <a:r>
                  <a:rPr/>
                  <a:t>30.7</a:t>
                </a:r>
              </a:p>
              <a:p>
                <a:pPr lvl="0" indent="0" marL="0">
                  <a:buNone/>
                </a:pPr>
                <a:r>
                  <a:rPr/>
                  <a:t>33.2</a:t>
                </a:r>
              </a:p>
              <a:p>
                <a:pPr lvl="0" indent="0" marL="0">
                  <a:buNone/>
                </a:pPr>
                <a:r>
                  <a:rPr/>
                  <a:t>27.4</a:t>
                </a:r>
              </a:p>
              <a:p>
                <a:pPr lvl="0" indent="0" marL="0">
                  <a:buNone/>
                </a:pPr>
                <a:r>
                  <a:rPr/>
                  <a:t>30.8</a:t>
                </a:r>
              </a:p>
              <a:p>
                <a:pPr lvl="0" indent="0" marL="0">
                  <a:buNone/>
                </a:pPr>
                <a:r>
                  <a:rPr/>
                  <a:t>31.6</a:t>
                </a:r>
              </a:p>
              <a:p>
                <a:pPr lvl="0" indent="0" marL="0">
                  <a:buNone/>
                </a:pPr>
                <a:r>
                  <a:rPr/>
                  <a:t>26.1</a:t>
                </a:r>
              </a:p>
              <a:p>
                <a:pPr lvl="0" indent="0" marL="0">
                  <a:buNone/>
                </a:pPr>
                <a:r>
                  <a:rPr/>
                  <a:t>28.8</a:t>
                </a:r>
              </a:p>
              <a:p>
                <a:pPr lvl="0" indent="0" marL="0">
                  <a:buNone/>
                </a:pPr>
                <a:r>
                  <a:rPr/>
                  <a:t>34.5</a:t>
                </a:r>
              </a:p>
              <a:p>
                <a:pPr lvl="0" indent="0" marL="0">
                  <a:buNone/>
                </a:pPr>
                <a:r>
                  <a:rPr/>
                  <a:t>29.9</a:t>
                </a:r>
              </a:p>
              <a:p>
                <a:pPr lvl="0" indent="0" marL="0">
                  <a:buNone/>
                </a:pPr>
                <a:r>
                  <a:rPr/>
                  <a:t>32.0</a:t>
                </a:r>
              </a:p>
              <a:p>
                <a:pPr lvl="0" indent="0" marL="0">
                  <a:buNone/>
                </a:pPr>
                <a:r>
                  <a:rPr/>
                  <a:t>25.8</a:t>
                </a:r>
              </a:p>
              <a:p>
                <a:pPr lvl="0" indent="0" marL="0">
                  <a:buNone/>
                </a:pPr>
                <a:r>
                  <a:rPr/>
                  <a:t>30.3</a:t>
                </a:r>
              </a:p>
              <a:p>
                <a:pPr lvl="0" indent="0" marL="0">
                  <a:buNone/>
                </a:pPr>
                <a:r>
                  <a:rPr/>
                  <a:t>33.5</a:t>
                </a:r>
              </a:p>
              <a:p>
                <a:pPr lvl="0" indent="0" marL="0">
                  <a:buNone/>
                </a:pPr>
                <a:r>
                  <a:rPr/>
                  <a:t>28.2</a:t>
                </a:r>
              </a:p>
              <a:p>
                <a:pPr lvl="0" indent="0" marL="0">
                  <a:buNone/>
                </a:pPr>
                <a:r>
                  <a:rPr/>
                  <a:t>29.4</a:t>
                </a:r>
              </a:p>
              <a:p>
                <a:pPr lvl="0" indent="0" marL="0">
                  <a:buNone/>
                </a:pPr>
                <a:r>
                  <a:rPr/>
                  <a:t>31.9</a:t>
                </a:r>
              </a:p>
              <a:p>
                <a:pPr lvl="0" indent="0" marL="0">
                  <a:buNone/>
                </a:pPr>
                <a:r>
                  <a:rPr/>
                  <a:t>27.0</a:t>
                </a:r>
              </a:p>
              <a:p>
                <a:pPr lvl="0" indent="0" marL="0">
                  <a:buNone/>
                </a:pPr>
                <a:r>
                  <a:rPr/>
                  <a:t>30.0</a:t>
                </a:r>
              </a:p>
              <a:p>
                <a:pPr lvl="0" indent="0" marL="0">
                  <a:buNone/>
                </a:pPr>
                <a:r>
                  <a:rPr/>
                  <a:t>26.5</a:t>
                </a:r>
              </a:p>
              <a:p>
                <a:pPr lvl="0" indent="0" marL="0">
                  <a:buNone/>
                </a:pPr>
                <a:r>
                  <a:rPr/>
                  <a:t>32.7</a:t>
                </a:r>
              </a:p>
              <a:p>
                <a:pPr lvl="0" indent="0" marL="0">
                  <a:buNone/>
                </a:pPr>
                <a:r>
                  <a:rPr/>
                  <a:t>28.0</a:t>
                </a:r>
              </a:p>
              <a:p>
                <a:pPr lvl="0" indent="0" marL="0">
                  <a:buNone/>
                </a:pPr>
                <a:r>
                  <a:rPr/>
                  <a:t>29.1</a:t>
                </a:r>
              </a:p>
              <a:p>
                <a:pPr lvl="0" indent="0" marL="0">
                  <a:buNone/>
                </a:pPr>
                <a:r>
                  <a:rPr/>
                  <a:t>25.2</a:t>
                </a:r>
              </a:p>
              <a:p>
                <a:pPr lvl="0" indent="0" marL="0">
                  <a:buNone/>
                </a:pPr>
                <a:r>
                  <a:rPr/>
                  <a:t>31.4</a:t>
                </a:r>
              </a:p>
              <a:p>
                <a:pPr lvl="0" indent="0" marL="0">
                  <a:buNone/>
                </a:pPr>
                <a:r>
                  <a:rPr/>
                  <a:t>28.7</a:t>
                </a:r>
              </a:p>
              <a:p>
                <a:pPr lvl="0" indent="0" marL="0">
                  <a:buNone/>
                </a:pPr>
                <a:r>
                  <a:rPr/>
                  <a:t>30.5</a:t>
                </a:r>
              </a:p>
              <a:p>
                <a:pPr lvl="0" indent="0" marL="0">
                  <a:buNone/>
                </a:pPr>
                <a:r>
                  <a:rPr/>
                  <a:t>33.8</a:t>
                </a:r>
              </a:p>
              <a:p>
                <a:pPr lvl="0" indent="0" marL="0">
                  <a:buNone/>
                </a:pPr>
                <a:r>
                  <a:rPr/>
                  <a:t>27.7</a:t>
                </a:r>
              </a:p>
              <a:p>
                <a:pPr lvl="0" indent="0" marL="0">
                  <a:buNone/>
                </a:pPr>
                <a:r>
                  <a:rPr/>
                  <a:t>29.3</a:t>
                </a:r>
              </a:p>
              <a:p>
                <a:pPr lvl="0" indent="0" marL="0">
                  <a:buNone/>
                </a:pPr>
                <a:r>
                  <a:rPr/>
                  <a:t>32.3</a:t>
                </a:r>
              </a:p>
              <a:p>
                <a:pPr lvl="0" indent="0" marL="0">
                  <a:buNone/>
                </a:pPr>
                <a:r>
                  <a:rPr/>
                  <a:t>26.9</a:t>
                </a:r>
              </a:p>
              <a:p>
                <a:pPr lvl="0" indent="0" marL="0">
                  <a:buNone/>
                </a:pPr>
                <a:r>
                  <a:rPr/>
                  <a:t>30.1</a:t>
                </a:r>
              </a:p>
              <a:p>
                <a:pPr lvl="0" indent="0" marL="0">
                  <a:buNone/>
                </a:pPr>
                <a:r>
                  <a:rPr/>
                  <a:t>31.2</a:t>
                </a:r>
              </a:p>
              <a:p>
                <a:pPr lvl="0" indent="0" marL="0">
                  <a:buNone/>
                </a:pPr>
                <a:r>
                  <a:rPr/>
                  <a:t>28.4</a:t>
                </a:r>
              </a:p>
              <a:p>
                <a:pPr lvl="0" indent="0" marL="0">
                  <a:buNone/>
                </a:pPr>
                <a:r>
                  <a:rPr/>
                  <a:t>34.0</a:t>
                </a:r>
              </a:p>
              <a:p>
                <a:pPr lvl="0" indent="0" marL="0">
                  <a:buNone/>
                </a:pPr>
                <a:r>
                  <a:rPr/>
                  <a:t>29.7</a:t>
                </a:r>
              </a:p>
              <a:p>
                <a:pPr lvl="0" indent="0" marL="0">
                  <a:buNone/>
                </a:pPr>
                <a:r>
                  <a:rPr/>
                  <a:t>26.3</a:t>
                </a:r>
              </a:p>
              <a:p>
                <a:pPr lvl="0" indent="0" marL="0">
                  <a:buNone/>
                </a:pPr>
                <a:r>
                  <a:rPr/>
                  <a:t>32.9</a:t>
                </a:r>
              </a:p>
              <a:p>
                <a:pPr lvl="0" indent="0" marL="0">
                  <a:buNone/>
                </a:pPr>
                <a:r>
                  <a:rPr/>
                  <a:t>27.5</a:t>
                </a:r>
              </a:p>
              <a:p>
                <a:pPr lvl="0" indent="0" marL="0">
                  <a:buNone/>
                </a:pPr>
                <a:r>
                  <a:rPr/>
                  <a:t>30.9</a:t>
                </a:r>
              </a:p>
              <a:p>
                <a:pPr lvl="0" indent="0" marL="0">
                  <a:buNone/>
                </a:pPr>
                <a:r>
                  <a:rPr/>
                  <a:t>31.7</a:t>
                </a:r>
              </a:p>
              <a:p>
                <a:pPr lvl="0" indent="0" marL="0">
                  <a:buNone/>
                </a:pPr>
                <a:r>
                  <a:rPr/>
                  <a:t>28.6</a:t>
                </a:r>
              </a:p>
              <a:p>
                <a:pPr lvl="0" indent="0" marL="0">
                  <a:buNone/>
                </a:pPr>
                <a:r>
                  <a:rPr/>
                  <a:t>29.8</a:t>
                </a:r>
              </a:p>
              <a:p>
                <a:pPr lvl="0" indent="0" marL="0">
                  <a:buNone/>
                </a:pPr>
                <a:r>
                  <a:rPr/>
                  <a:t>25.7</a:t>
                </a:r>
              </a:p>
              <a:p>
                <a:pPr lvl="0" indent="0" marL="0">
                  <a:buNone/>
                </a:pPr>
                <a:r>
                  <a:rPr/>
                  <a:t>32.6</a:t>
                </a:r>
              </a:p>
              <a:p>
                <a:pPr lvl="0" indent="0" marL="0">
                  <a:buNone/>
                </a:pPr>
                <a:r>
                  <a:rPr/>
                  <a:t>30.2</a:t>
                </a:r>
              </a:p>
              <a:p>
                <a:pPr lvl="0" indent="0" marL="0">
                  <a:buNone/>
                </a:pPr>
                <a:r>
                  <a:rPr/>
                  <a:t>28.1</a:t>
                </a:r>
              </a:p>
              <a:p>
                <a:pPr lvl="0" indent="0" marL="0">
                  <a:buNone/>
                </a:pPr>
                <a:r>
                  <a:rPr/>
                  <a:t>33.1</a:t>
                </a:r>
              </a:p>
              <a:p>
                <a:pPr lvl="0" indent="0" marL="0">
                  <a:buNone/>
                </a:pPr>
                <a:r>
                  <a:rPr/>
                  <a:t>27.2</a:t>
                </a:r>
              </a:p>
              <a:p>
                <a:pPr lvl="0" indent="0" marL="0">
                  <a:buNone/>
                </a:pPr>
                <a:r>
                  <a:rPr/>
                  <a:t>29.5</a:t>
                </a:r>
              </a:p>
              <a:p>
                <a:pPr lvl="0" indent="0" marL="0">
                  <a:buNone/>
                </a:pPr>
                <a:r>
                  <a:rPr/>
                  <a:t>31.0</a:t>
                </a:r>
              </a:p>
              <a:p>
                <a:pPr lvl="0" indent="0" marL="0">
                  <a:buNone/>
                </a:pPr>
                <a:r>
                  <a:rPr/>
                  <a:t>34.7</a:t>
                </a:r>
              </a:p>
              <a:p>
                <a:pPr lvl="0" indent="0" marL="0">
                  <a:buNone/>
                </a:pPr>
                <a:r>
                  <a:rPr/>
                  <a:t>La media de la población 29.7 MPa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Característica, cualidad o propiedad de un objeto o persona que se puede medir, contar o clasificar, y que toma diferentes valores de un sujeto a otro.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Clasificación de las variables (Según su naturaleza)</a:t>
            </a:r>
          </a:p>
          <a:p>
            <a:pPr lvl="0" indent="-342900" marL="342900">
              <a:buAutoNum type="arabicPeriod"/>
            </a:pPr>
            <a:r>
              <a:rPr b="1"/>
              <a:t>Cualitativas o Categóricas (Atributos):</a:t>
            </a:r>
            <a:r>
              <a:rPr/>
              <a:t> Cualidad, característica o categoría no numérica.</a:t>
            </a:r>
          </a:p>
          <a:p>
            <a:pPr lvl="1"/>
            <a:r>
              <a:rPr b="1"/>
              <a:t>Nominales:</a:t>
            </a:r>
            <a:r>
              <a:rPr/>
              <a:t> Categorías sin orden preestablecido.</a:t>
            </a:r>
          </a:p>
          <a:p>
            <a:pPr lvl="1"/>
            <a:r>
              <a:rPr b="1"/>
              <a:t>Ordinales:</a:t>
            </a:r>
            <a:r>
              <a:rPr/>
              <a:t> Categorías con un orden, escala o jerarquía natural.</a:t>
            </a:r>
          </a:p>
          <a:p>
            <a:pPr lvl="1"/>
            <a:r>
              <a:rPr b="1"/>
              <a:t>Binarias (Dicotómicas):</a:t>
            </a:r>
            <a:r>
              <a:rPr/>
              <a:t> Solo admiten dos categorías excluyentes.</a:t>
            </a:r>
          </a:p>
          <a:p>
            <a:pPr lvl="2"/>
            <a:r>
              <a:rPr b="1"/>
              <a:t>Simétricas:</a:t>
            </a:r>
            <a:r>
              <a:rPr/>
              <a:t> Ambas tienen similar importancia o frecuencia.</a:t>
            </a:r>
          </a:p>
          <a:p>
            <a:pPr lvl="2"/>
            <a:r>
              <a:rPr b="1"/>
              <a:t>Asimétricas:</a:t>
            </a:r>
            <a:r>
              <a:rPr/>
              <a:t> Una categoría representa la presencia del evento de interés y la otra la ausencia.</a:t>
            </a:r>
          </a:p>
          <a:p>
            <a:pPr lvl="0" indent="-342900" marL="342900">
              <a:buAutoNum type="arabicPeriod"/>
            </a:pPr>
            <a:r>
              <a:rPr b="1"/>
              <a:t>Cuantitativas o Numéricas (Cantidades):</a:t>
            </a:r>
            <a:r>
              <a:rPr/>
              <a:t> Valores numéricos que permiten realizar operaciones matemáticas.</a:t>
            </a:r>
          </a:p>
          <a:p>
            <a:pPr lvl="1"/>
            <a:r>
              <a:rPr b="1"/>
              <a:t>Discretas:</a:t>
            </a:r>
            <a:r>
              <a:rPr/>
              <a:t> Valor entero y aislado.</a:t>
            </a:r>
          </a:p>
          <a:p>
            <a:pPr lvl="1"/>
            <a:r>
              <a:rPr b="1"/>
              <a:t>Continuas:</a:t>
            </a:r>
            <a:r>
              <a:rPr/>
              <a:t> Valor decimal dentro de un intervalo.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Clasificación de las variables (Según su función o relación)</a:t>
            </a:r>
          </a:p>
          <a:p>
            <a:pPr lvl="0" indent="-342900" marL="342900">
              <a:buAutoNum type="arabicPeriod"/>
            </a:pPr>
            <a:r>
              <a:rPr b="1"/>
              <a:t>Variables independientes (Causa):</a:t>
            </a:r>
            <a:r>
              <a:rPr/>
              <a:t> Son aquellas que se manipulan o controlan para observar su efecto.</a:t>
            </a:r>
          </a:p>
          <a:p>
            <a:pPr lvl="0" indent="-342900" marL="342900">
              <a:buAutoNum type="arabicPeriod"/>
            </a:pPr>
            <a:r>
              <a:rPr b="1"/>
              <a:t>Variables dependientes (Efecto):</a:t>
            </a:r>
            <a:r>
              <a:rPr/>
              <a:t> Característica que cambia y se mide como respuesta a la variable independiente.</a:t>
            </a:r>
          </a:p>
          <a:p>
            <a:pPr lvl="0" indent="-342900" marL="342900">
              <a:buAutoNum type="arabicPeriod"/>
            </a:pPr>
            <a:r>
              <a:rPr b="1"/>
              <a:t>Variables de confusión:</a:t>
            </a:r>
            <a:r>
              <a:rPr/>
              <a:t> Factores externos que pueden influir tanto en la causa como en el efecto, distorsionando la relación real entre ellos.</a:t>
            </a:r>
          </a:p>
          <a:p>
            <a:pPr lvl="0" indent="-342900" marL="342900">
              <a:buAutoNum type="arabicPeriod"/>
            </a:pPr>
            <a:r>
              <a:rPr b="1"/>
              <a:t>Variables extrañas:</a:t>
            </a:r>
            <a:r>
              <a:rPr/>
              <a:t> Variables que no son objeto de estudio pero que podrían alterar los resultados si no se controlan de alguna manera.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Codificación numérica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Transformación de datos cualitativos (categorías o texto) en valores numéricos para que puedan ser procesados por modelos matemáticos y algoritmos.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Valores o hechos crudos (números, texto o símbolos) sin procesar que, al analizarse, se convierten en información útil.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</a:t>
            </a:r>
            <a:r>
              <a:rPr b="1"/>
              <a:t>variable</a:t>
            </a:r>
            <a:r>
              <a:rPr/>
              <a:t> es la característica que quieres medir, mientras que el </a:t>
            </a:r>
            <a:r>
              <a:rPr b="1"/>
              <a:t>dato</a:t>
            </a:r>
            <a:r>
              <a:rPr/>
              <a:t> es el valor real que obtienes al medirla.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Dimensionalidad de los datos</a:t>
            </a:r>
          </a:p>
          <a:p>
            <a:pPr lvl="0" indent="0" marL="0">
              <a:buNone/>
            </a:pPr>
            <a:r>
              <a:rPr/>
              <a:t>Dependiendo de cuántas características de la población analicemos al mismo tiempo, los datos se clasifican según su dimensión en:</a:t>
            </a:r>
          </a:p>
          <a:p>
            <a:pPr lvl="0"/>
            <a:r>
              <a:rPr b="1"/>
              <a:t>Univariantes:</a:t>
            </a:r>
            <a:r>
              <a:rPr/>
              <a:t> Analizan una sola variable a la vez.</a:t>
            </a:r>
          </a:p>
          <a:p>
            <a:pPr lvl="0"/>
            <a:r>
              <a:rPr b="1"/>
              <a:t>Bivariantes:</a:t>
            </a:r>
            <a:r>
              <a:rPr/>
              <a:t> Estudian dos variables juntas para ver cómo se relacionan entre sí.</a:t>
            </a:r>
          </a:p>
          <a:p>
            <a:pPr lvl="0"/>
            <a:r>
              <a:rPr b="1"/>
              <a:t>Multivariantes:</a:t>
            </a:r>
            <a:r>
              <a:rPr/>
              <a:t> Analizan tres o más variables simultáneamente para entender fenómenos complejos.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Datos no agrupados y agrupados</a:t>
            </a:r>
          </a:p>
          <a:p>
            <a:pPr lvl="0" indent="-342900" marL="342900">
              <a:buAutoNum type="arabicPeriod"/>
            </a:pPr>
            <a:r>
              <a:rPr b="1"/>
              <a:t>Datos no agrupados:</a:t>
            </a:r>
            <a:r>
              <a:rPr/>
              <a:t> Valores recolectados tal cual, presentados como una lista individual de datos. Se usan cuando la muestra es pequeña o hay muy poca variedad de valores.</a:t>
            </a:r>
          </a:p>
          <a:p>
            <a:pPr lvl="0" indent="-342900" marL="342900">
              <a:buAutoNum type="arabicPeriod"/>
            </a:pPr>
            <a:r>
              <a:rPr b="1"/>
              <a:t>Datos agrupados:</a:t>
            </a:r>
            <a:r>
              <a:rPr/>
              <a:t> Se organizan en intervalos o clases y se presentan en una tabla de frecuencias. Esto es común cuando se manejan grandes conjuntos de datos, ya que ayuda a resumir y simplificar la información.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Comparación entre datos no agrupados y agrupados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Datos No Agrupados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Datos Agrupados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Característica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Muestra cada dato individual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Muestra datos en intervalos o clases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Fácil cálculo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Media, mediana y moda se calculan directamente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Requiere fórmulas adaptadas para intervalos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Pérdida de información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 hay pérdida de información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 pierde la especificidad de datos individuales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Apropiado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Pequeños conjuntos de datos o análisis detallado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Grandes conjuntos de datos o análisis de tendencias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Uso de tablas de frecuencia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 es necesario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Necesario para organizar los datos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Los datos se representan principalmente mediante </a:t></a:r><a:r><a:rPr b="1" /><a:t>tablas</a:t></a:r><a:r><a:rPr /><a:t> para mostrar precisión numérica, </a:t></a:r><a:r><a:rPr b="1" /><a:t>gráficos</a:t></a:r><a:r><a:rPr /><a:t> para identificar patrones visualmente y </a:t></a:r><a:r><a:rPr b="1" /><a:t>medidas estadísticas</a:t></a:r><a:r><a:rPr /><a:t> para resumir sus propiedades clave.</a:t></a:r></a:p><a:p><a:pPr lvl="0" indent="0" marL="0"><a:spcBef><a:spcPts val="3000" /></a:spcBef><a:buNone /></a:pPr><a:r><a:rPr b="1" /><a:t>Escalas de Medición</a:t></a:r></a:p></p:txBody></p:sp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508000" /><a:gridCol w="2044700" /><a:gridCol w="762000" /><a:gridCol w="1790700" /></a:tblGrid><a:tr h="0"><a:tc><a:txBody><a:bodyPr /><a:lstStyle /><a:p><a:pPr lvl="0" indent="0" marL="0" algn="l"><a:buNone /></a:pPr><a:r><a:rPr /><a:t>Escala</a:t></a:r></a:p></a:txBody><a:tcPr /></a:tc><a:tc><a:txBody><a:bodyPr /><a:lstStyle /><a:p><a:pPr lvl="0" indent="0" marL="0" algn="l"><a:buNone /></a:pPr><a:r><a:rPr /><a:t>Propiedad clave</a:t></a:r></a:p></a:txBody><a:tcPr /></a:tc><a:tc><a:txBody><a:bodyPr /><a:lstStyle /><a:p><a:pPr lvl="0" indent="0" marL="0" algn="ctr"><a:buNone /></a:pPr><a:r><a:rPr /><a:t>Operaciones válidas</a:t></a:r></a:p></a:txBody><a:tcPr /></a:tc><a:tc><a:txBody><a:bodyPr /><a:lstStyle /><a:p><a:pPr lvl="0" indent="0" marL="0" algn="l"><a:buNone /></a:pPr><a:r><a:rPr /><a:t>Ejemplo</a:t></a:r></a:p></a:txBody><a:tcPr /></a:tc></a:tr><a:tr h="0"><a:tc><a:txBody><a:bodyPr /><a:lstStyle /><a:p><a:pPr lvl="0" indent="0" marL="0" algn="l"><a:buNone /></a:pPr><a:r><a:rPr b="1" /><a:t>Nominal</a:t></a:r></a:p></a:txBody></a:tc><a:tc><a:txBody><a:bodyPr /><a:lstStyle /><a:p><a:pPr lvl="0" indent="0" marL="0" algn="l"><a:buNone /></a:pPr><a:r><a:rPr /><a:t>Clasifica en categorías sin orden</a:t></a:r></a:p></a:txBody></a:tc><a:tc><a:txBody><a:bodyPr /><a:lstStyle /><a:p><a:pPr lvl="0" indent="0" marL="0" algn="ctr"><a:buNone /></a:pPr><a14:m><m:oMath xmlns:m="http://schemas.openxmlformats.org/officeDocument/2006/math"><m:r><m:rPr><m:sty m:val="p" /></m:rPr><m:t>=</m:t></m:r><m:r><m:rPr><m:sty m:val="p" /></m:rPr><m:t>,</m:t></m:r><m:r><m:rPr><m:sty m:val="p" /></m:rPr><m:t>≠</m:t></m:r></m:oMath></a14:m></a:p></a:txBody></a:tc><a:tc><a:txBody><a:bodyPr /><a:lstStyle /><a:p><a:pPr lvl="0" indent="0" marL="0" algn="l"><a:buNone /></a:pPr><a:r><a:rPr /><a:t>Tipo de falla, material</a:t></a:r></a:p></a:txBody></a:tc></a:tr><a:tr h="0"><a:tc><a:txBody><a:bodyPr /><a:lstStyle /><a:p><a:pPr lvl="0" indent="0" marL="0" algn="l"><a:buNone /></a:pPr><a:r><a:rPr b="1" /><a:t>Ordinal</a:t></a:r></a:p></a:txBody></a:tc><a:tc><a:txBody><a:bodyPr /><a:lstStyle /><a:p><a:pPr lvl="0" indent="0" marL="0" algn="l"><a:buNone /></a:pPr><a:r><a:rPr /><a:t>Ordena o establece jerarquía</a:t></a:r></a:p></a:txBody></a:tc><a:tc><a:txBody><a:bodyPr /><a:lstStyle /><a:p><a:pPr lvl="0" indent="0" marL="0" algn="ctr"><a:buNone /></a:pPr><a14:m><m:oMath xmlns:m="http://schemas.openxmlformats.org/officeDocument/2006/math"><m:r><m:rPr><m:sty m:val="p" /></m:rPr><m:t>&gt;</m:t></m:r><m:r><m:rPr><m:sty m:val="p" /></m:rPr><m:t>,</m:t></m:r><m:r><m:rPr><m:sty m:val="p" /></m:rPr><m:t>&lt;</m:t></m:r></m:oMath></a14:m></a:p></a:txBody></a:tc><a:tc><a:txBody><a:bodyPr /><a:lstStyle /><a:p><a:pPr lvl="0" indent="0" marL="0" algn="l"><a:buNone /></a:pPr><a:r><a:rPr /><a:t>Severidad de daño</a:t></a:r></a:p></a:txBody></a:tc></a:tr><a:tr h="0"><a:tc><a:txBody><a:bodyPr /><a:lstStyle /><a:p><a:pPr lvl="0" indent="0" marL="0" algn="l"><a:buNone /></a:pPr><a:r><a:rPr b="1" /><a:t>Intervalo</a:t></a:r></a:p></a:txBody></a:tc><a:tc><a:txBody><a:bodyPr /><a:lstStyle /><a:p><a:pPr lvl="0" indent="0" marL="0" algn="l"><a:buNone /></a:pPr><a:r><a:rPr /><a:t>Distancia constante, </a:t></a:r><a:r><a:rPr i="1" /><a:t>cero arbitrario</a:t></a:r></a:p></a:txBody></a:tc><a:tc><a:txBody><a:bodyPr /><a:lstStyle /><a:p><a:pPr lvl="0" indent="0" marL="0" algn="ctr"><a:buNone /></a:pPr><a14:m><m:oMath xmlns:m="http://schemas.openxmlformats.org/officeDocument/2006/math"><m:r><m:rPr><m:sty m:val="p" /></m:rPr><m:t>+</m:t></m:r><m:r><m:rPr><m:sty m:val="p" /></m:rPr><m:t>,</m:t></m:r><m:r><m:rPr><m:sty m:val="p" /></m:rPr><m:t>−</m:t></m:r></m:oMath></a14:m></a:p></a:txBody></a:tc><a:tc><a:txBody><a:bodyPr /><a:lstStyle /><a:p><a:pPr lvl="0" indent="0" marL="0" algn="l"><a:buNone /></a:pPr><a:r><a:rPr /><a:t>Temperatura</a:t></a:r></a:p></a:txBody></a:tc></a:tr><a:tr h="0"><a:tc><a:txBody><a:bodyPr /><a:lstStyle /><a:p><a:pPr lvl="0" indent="0" marL="0" algn="l"><a:buNone /></a:pPr><a:r><a:rPr b="1" /><a:t>Razón</a:t></a:r></a:p></a:txBody></a:tc><a:tc><a:txBody><a:bodyPr /><a:lstStyle /><a:p><a:pPr lvl="0" indent="0" marL="0" algn="l"><a:buNone /></a:pPr><a:r><a:rPr /><a:t>Distancia constante, </a:t></a:r><a:r><a:rPr i="1" /><a:t>cero absoluto</a:t></a:r></a:p></a:txBody></a:tc><a:tc><a:txBody><a:bodyPr /><a:lstStyle /><a:p><a:pPr lvl="0" indent="0" marL="0" algn="ctr"><a:buNone /></a:pPr><a14:m><m:oMath xmlns:m="http://schemas.openxmlformats.org/officeDocument/2006/math"><m:r><m:rPr><m:sty m:val="p" /></m:rPr><m:t>×</m:t></m:r><m:r><m:rPr><m:sty m:val="p" /></m:rPr><m:t>,</m:t></m:r><m:r><m:rPr><m:sty m:val="p" /></m:rPr><m:t>÷</m:t></m:r></m:oMath></a14:m></a:p></a:txBody></a:tc><a:tc><a:txBody><a:bodyPr /><a:lstStyle /><a:p><a:pPr lvl="0" indent="0" marL="0" algn="l"><a:buNone /></a:pPr><a:r><a:rPr /><a:t>Esfuerzo, masa, longitud</a:t></a:r></a:p></a:txBody></a:tc></a:tr></a:tbl></a:graphicData></a:graphic></p:graphicFrame></p:spTree></p:cSld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2026-08-11T05:42:45Z</dcterms:created>
  <dcterms:modified xsi:type="dcterms:W3CDTF">2026-08-11T05:42:45Z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pagetitle">
    <vt:lpwstr>Unidad 1: Definiciones y Medidas Estadísticas</vt:lpwstr>
  </property>
  <property fmtid="{D5CDD505-2E9C-101B-9397-08002B2CF9AE}" pid="9" name="toc-title">
    <vt:lpwstr>Tabla de contenidos</vt:lpwstr>
  </property>
</Properties>
</file>